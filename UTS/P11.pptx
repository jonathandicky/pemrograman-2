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6.xml" ContentType="application/vnd.openxmlformats-officedocument.theme+xml"/>
  <Override PartName="/ppt/slideLayouts/slideLayout13.xml" ContentType="application/vnd.openxmlformats-officedocument.presentationml.slideLayout+xml"/>
  <Override PartName="/ppt/theme/theme7.xml" ContentType="application/vnd.openxmlformats-officedocument.theme+xml"/>
  <Override PartName="/ppt/slideLayouts/slideLayout14.xml" ContentType="application/vnd.openxmlformats-officedocument.presentationml.slideLayout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  <p:sldMasterId id="2147483701" r:id="rId2"/>
    <p:sldMasterId id="2147483692" r:id="rId3"/>
    <p:sldMasterId id="2147483691" r:id="rId4"/>
    <p:sldMasterId id="2147483690" r:id="rId5"/>
    <p:sldMasterId id="2147483648" r:id="rId6"/>
    <p:sldMasterId id="2147483693" r:id="rId7"/>
    <p:sldMasterId id="2147483689" r:id="rId8"/>
  </p:sldMasterIdLst>
  <p:sldIdLst>
    <p:sldId id="258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2" r:id="rId29"/>
    <p:sldId id="293" r:id="rId30"/>
    <p:sldId id="294" r:id="rId31"/>
    <p:sldId id="270" r:id="rId32"/>
    <p:sldId id="271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21" Type="http://schemas.openxmlformats.org/officeDocument/2006/relationships/slide" Target="slides/slide13.xml"/><Relationship Id="rId34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theme" Target="theme/theme1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viewProps" Target="viewProp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82043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58865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6A74D-1C8D-4400-A44B-18C61420D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6136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314F5-9B88-4A10-889F-F5ED67983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86613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F2F78-41F6-4DBD-A49B-20619A862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13582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198065A5-1218-4E69-9EF0-90C3C2E67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13465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916FA04-1396-485D-A609-CD7E92522DD1}"/>
              </a:ext>
            </a:extLst>
          </p:cNvPr>
          <p:cNvCxnSpPr>
            <a:cxnSpLocks/>
          </p:cNvCxnSpPr>
          <p:nvPr userDrawn="1"/>
        </p:nvCxnSpPr>
        <p:spPr>
          <a:xfrm>
            <a:off x="0" y="683288"/>
            <a:ext cx="6189785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1FFC4A87-0CB1-45CE-9554-8F044AAEC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79677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916FA04-1396-485D-A609-CD7E92522DD1}"/>
              </a:ext>
            </a:extLst>
          </p:cNvPr>
          <p:cNvCxnSpPr>
            <a:cxnSpLocks/>
          </p:cNvCxnSpPr>
          <p:nvPr userDrawn="1"/>
        </p:nvCxnSpPr>
        <p:spPr>
          <a:xfrm>
            <a:off x="6002215" y="683288"/>
            <a:ext cx="6189785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52A5D29-0C74-4DB5-80AC-205E2980D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47090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08D90C-70B8-457C-95AE-141C49C3A3FB}"/>
              </a:ext>
            </a:extLst>
          </p:cNvPr>
          <p:cNvCxnSpPr>
            <a:cxnSpLocks/>
          </p:cNvCxnSpPr>
          <p:nvPr userDrawn="1"/>
        </p:nvCxnSpPr>
        <p:spPr>
          <a:xfrm>
            <a:off x="0" y="683288"/>
            <a:ext cx="1219200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:a16="http://schemas.microsoft.com/office/drawing/2014/main" id="{ABE849F3-B6DF-4217-B464-9130928C9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32110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3BEC2E1-0AD8-452E-87EC-4D9066322202}"/>
              </a:ext>
            </a:extLst>
          </p:cNvPr>
          <p:cNvSpPr/>
          <p:nvPr userDrawn="1"/>
        </p:nvSpPr>
        <p:spPr>
          <a:xfrm>
            <a:off x="0" y="0"/>
            <a:ext cx="12192000" cy="108522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2CC0ADF-8FA4-4472-9031-72E465CB4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97686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EBE2D0A-6E5C-4A94-8EF1-D947C32EBE56}"/>
              </a:ext>
            </a:extLst>
          </p:cNvPr>
          <p:cNvSpPr/>
          <p:nvPr userDrawn="1"/>
        </p:nvSpPr>
        <p:spPr>
          <a:xfrm>
            <a:off x="0" y="80391"/>
            <a:ext cx="12192000" cy="63304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898FCA4-6365-4601-85C8-B9BFB43B3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457647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70B6C2-5A8A-40C2-AE98-493677E13A21}"/>
              </a:ext>
            </a:extLst>
          </p:cNvPr>
          <p:cNvSpPr/>
          <p:nvPr userDrawn="1"/>
        </p:nvSpPr>
        <p:spPr>
          <a:xfrm>
            <a:off x="0" y="60292"/>
            <a:ext cx="12192000" cy="4571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892BB0-7181-4898-96B3-7ABD572DA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62669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3B74E-CCD6-46A2-96AD-028888784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139638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CF78D-0AC0-4E71-8350-3BC2A8E43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15785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theme" Target="../theme/theme6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10" Type="http://schemas.openxmlformats.org/officeDocument/2006/relationships/image" Target="../media/image5.png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1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38924"/>
            <a:ext cx="111928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456D31B-DA89-4FCC-A0CF-973CBA8BD493}"/>
              </a:ext>
            </a:extLst>
          </p:cNvPr>
          <p:cNvSpPr txBox="1"/>
          <p:nvPr userDrawn="1"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PROGRAM STUDI S1 TEKNIK INFORMATIKA</a:t>
            </a:r>
            <a:br>
              <a:rPr lang="en-US" sz="2400" dirty="0"/>
            </a:br>
            <a:r>
              <a:rPr lang="en-US" sz="2400" dirty="0"/>
              <a:t>UNIVERSITAS PAMULANG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60A43D-3921-41B8-B4DC-C239EAEA84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352" y="0"/>
            <a:ext cx="2143648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59788E57-52DB-4E2B-A81F-D18E71DA02CB}"/>
              </a:ext>
            </a:extLst>
          </p:cNvPr>
          <p:cNvSpPr/>
          <p:nvPr userDrawn="1"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8BF5A5-79AC-4428-A4CF-F44278AA4D6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255" y="6422940"/>
            <a:ext cx="453018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F13C787-49DC-45B2-99DA-FD9DF4541EF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6419057"/>
            <a:ext cx="380491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C0EC3BD-0F33-4AAF-A3A2-953764A0D99A}"/>
              </a:ext>
            </a:extLst>
          </p:cNvPr>
          <p:cNvSpPr txBox="1"/>
          <p:nvPr userDrawn="1"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InfoTI_unpam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CFA357-EB7B-4C90-B08D-FF68109B966A}"/>
              </a:ext>
            </a:extLst>
          </p:cNvPr>
          <p:cNvSpPr txBox="1"/>
          <p:nvPr userDrawn="1"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informatika.unpam.ac.id</a:t>
            </a:r>
            <a:endParaRPr lang="en-ID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10FF8DC-21DB-400A-A27F-9751868D2AFC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996" y="6412026"/>
            <a:ext cx="648362" cy="45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310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59788E57-52DB-4E2B-A81F-D18E71DA02CB}"/>
              </a:ext>
            </a:extLst>
          </p:cNvPr>
          <p:cNvSpPr/>
          <p:nvPr userDrawn="1"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8BF5A5-79AC-4428-A4CF-F44278AA4D6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255" y="6422940"/>
            <a:ext cx="453018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F13C787-49DC-45B2-99DA-FD9DF4541EF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6419057"/>
            <a:ext cx="380491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C0EC3BD-0F33-4AAF-A3A2-953764A0D99A}"/>
              </a:ext>
            </a:extLst>
          </p:cNvPr>
          <p:cNvSpPr txBox="1"/>
          <p:nvPr userDrawn="1"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InfoTI_unpam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CFA357-EB7B-4C90-B08D-FF68109B966A}"/>
              </a:ext>
            </a:extLst>
          </p:cNvPr>
          <p:cNvSpPr txBox="1"/>
          <p:nvPr userDrawn="1"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informatika.unpam.ac.id</a:t>
            </a:r>
            <a:endParaRPr lang="en-ID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10FF8DC-21DB-400A-A27F-9751868D2AF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996" y="6412026"/>
            <a:ext cx="648362" cy="4587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0E9772E-AF4F-4C17-B477-D78352308CB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590" y="6366986"/>
            <a:ext cx="512406" cy="49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861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7710A05-4BC0-4640-9166-A8A038BAD88C}"/>
              </a:ext>
            </a:extLst>
          </p:cNvPr>
          <p:cNvSpPr txBox="1"/>
          <p:nvPr userDrawn="1"/>
        </p:nvSpPr>
        <p:spPr>
          <a:xfrm>
            <a:off x="3898760" y="2622619"/>
            <a:ext cx="5194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TERIMA KASIH</a:t>
            </a:r>
            <a:endParaRPr lang="en-ID" sz="5400" dirty="0"/>
          </a:p>
        </p:txBody>
      </p:sp>
    </p:spTree>
    <p:extLst>
      <p:ext uri="{BB962C8B-B14F-4D97-AF65-F5344CB8AC3E}">
        <p14:creationId xmlns:p14="http://schemas.microsoft.com/office/powerpoint/2010/main" val="321173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38F377F8-55ED-4437-98B9-2D2AA5DD3B4A}"/>
              </a:ext>
            </a:extLst>
          </p:cNvPr>
          <p:cNvSpPr/>
          <p:nvPr userDrawn="1"/>
        </p:nvSpPr>
        <p:spPr>
          <a:xfrm>
            <a:off x="0" y="2582426"/>
            <a:ext cx="12192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TERIMA KASIH, MAHASISWA TEKNIK INFORMATIKA UNGGUL, ANDA SUDAH BELAJAR DENGAN LUAR BIASA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73921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65A30DD-8BE8-42A1-85CC-D069AF516FB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2057400"/>
            <a:ext cx="4876800" cy="27432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38F377F8-55ED-4437-98B9-2D2AA5DD3B4A}"/>
              </a:ext>
            </a:extLst>
          </p:cNvPr>
          <p:cNvSpPr/>
          <p:nvPr userDrawn="1"/>
        </p:nvSpPr>
        <p:spPr>
          <a:xfrm>
            <a:off x="0" y="0"/>
            <a:ext cx="12192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TERIMA KASIH, MAHASISWA TEKNIK INFORMATIKA UNGGUL, ANDA SUDAH BELAJAR DENGAN LUAR BIASA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04665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73922ECC-A830-4C03-9B45-AEB8C3D23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35" name="Title Placeholder 34">
            <a:extLst>
              <a:ext uri="{FF2B5EF4-FFF2-40B4-BE49-F238E27FC236}">
                <a16:creationId xmlns:a16="http://schemas.microsoft.com/office/drawing/2014/main" id="{862CBB9D-7640-4DCE-8E7A-C98B9F67D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01620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85" r:id="rId3"/>
    <p:sldLayoutId id="2147483652" r:id="rId4"/>
    <p:sldLayoutId id="2147483651" r:id="rId5"/>
    <p:sldLayoutId id="2147483686" r:id="rId6"/>
    <p:sldLayoutId id="214748368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38924"/>
            <a:ext cx="111928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456D31B-DA89-4FCC-A0CF-973CBA8BD493}"/>
              </a:ext>
            </a:extLst>
          </p:cNvPr>
          <p:cNvSpPr txBox="1"/>
          <p:nvPr userDrawn="1"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PROGRAM STUDI S1 TEKNIK INFORMATIKA</a:t>
            </a:r>
            <a:br>
              <a:rPr lang="en-US" sz="2400" dirty="0"/>
            </a:br>
            <a:r>
              <a:rPr lang="en-US" sz="2400" dirty="0"/>
              <a:t>UNIVERSITAS PAMULANG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60A43D-3921-41B8-B4DC-C239EAEA84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352" y="0"/>
            <a:ext cx="2143648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FA5E565-A9FD-45A9-9262-E4CE87B5C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32988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40609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7122B0-D188-4F1B-9170-48FB515F7D1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085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4C18E5C-D4B9-4152-800A-092B85F5075A}"/>
              </a:ext>
            </a:extLst>
          </p:cNvPr>
          <p:cNvSpPr txBox="1"/>
          <p:nvPr/>
        </p:nvSpPr>
        <p:spPr>
          <a:xfrm>
            <a:off x="4670473" y="5060314"/>
            <a:ext cx="776008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>
                <a:ln>
                  <a:solidFill>
                    <a:schemeClr val="tx1"/>
                  </a:solidFill>
                </a:ln>
                <a:solidFill>
                  <a:schemeClr val="accent4"/>
                </a:solidFill>
                <a:latin typeface="Fira Sans ExtraBold" panose="020B0903050000020004" pitchFamily="34" charset="0"/>
              </a:rPr>
              <a:t>Pemrograman 2</a:t>
            </a:r>
          </a:p>
        </p:txBody>
      </p:sp>
    </p:spTree>
    <p:extLst>
      <p:ext uri="{BB962C8B-B14F-4D97-AF65-F5344CB8AC3E}">
        <p14:creationId xmlns:p14="http://schemas.microsoft.com/office/powerpoint/2010/main" val="200752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503ED-9D61-454B-8EDA-5B5061533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2138955"/>
          </a:xfrm>
          <a:solidFill>
            <a:schemeClr val="accent6"/>
          </a:solidFill>
        </p:spPr>
        <p:txBody>
          <a:bodyPr>
            <a:normAutofit/>
          </a:bodyPr>
          <a:lstStyle/>
          <a:p>
            <a:r>
              <a:rPr lang="en-ID" sz="9600">
                <a:solidFill>
                  <a:schemeClr val="bg1"/>
                </a:solidFill>
                <a:latin typeface="Fira Sans ExtraBold" panose="020B0903050000020004" pitchFamily="34" charset="0"/>
              </a:rPr>
              <a:t>Pertemuan 11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46B6EFA-706E-449D-900A-56E2448FC571}"/>
              </a:ext>
            </a:extLst>
          </p:cNvPr>
          <p:cNvSpPr txBox="1">
            <a:spLocks/>
          </p:cNvSpPr>
          <p:nvPr/>
        </p:nvSpPr>
        <p:spPr>
          <a:xfrm>
            <a:off x="3928055" y="3429000"/>
            <a:ext cx="7965833" cy="25854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ID" sz="6600">
                <a:solidFill>
                  <a:schemeClr val="bg1">
                    <a:lumMod val="50000"/>
                  </a:schemeClr>
                </a:solidFill>
                <a:latin typeface="Antipasto Pro Bold" panose="02000506020000020004" pitchFamily="2" charset="0"/>
              </a:rPr>
              <a:t>PEMROGRAMAN DASAR WEB </a:t>
            </a:r>
          </a:p>
        </p:txBody>
      </p:sp>
    </p:spTree>
    <p:extLst>
      <p:ext uri="{BB962C8B-B14F-4D97-AF65-F5344CB8AC3E}">
        <p14:creationId xmlns:p14="http://schemas.microsoft.com/office/powerpoint/2010/main" val="2583454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F81D12BC-656B-4235-9804-3DE18367E95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573197" cy="7242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>
                <a:latin typeface="Arial (Headings)"/>
              </a:rPr>
              <a:t>Pemrograman Dasar Servlet </a:t>
            </a:r>
            <a:endParaRPr lang="en-US" sz="4000" b="1" dirty="0">
              <a:latin typeface="Arial (Headings)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658ED0-3F10-4AB7-999A-7B18E483AAD6}"/>
              </a:ext>
            </a:extLst>
          </p:cNvPr>
          <p:cNvSpPr txBox="1"/>
          <p:nvPr/>
        </p:nvSpPr>
        <p:spPr>
          <a:xfrm>
            <a:off x="257578" y="1186522"/>
            <a:ext cx="10689464" cy="334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Beberapa hal yang akan dibahas pada pembelajaran Pemrograman Dasar Servlet:</a:t>
            </a:r>
          </a:p>
          <a:p>
            <a:pPr>
              <a:lnSpc>
                <a:spcPct val="150000"/>
              </a:lnSpc>
            </a:pP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Pengenalan Servlet </a:t>
            </a:r>
          </a:p>
          <a:p>
            <a:pPr>
              <a:lnSpc>
                <a:spcPct val="150000"/>
              </a:lnSpc>
            </a:pP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Contoh Aplikasi JSP-Servlet</a:t>
            </a:r>
          </a:p>
          <a:p>
            <a:pPr>
              <a:lnSpc>
                <a:spcPct val="150000"/>
              </a:lnSpc>
            </a:pP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Contoh Aplikasi Servlet </a:t>
            </a:r>
          </a:p>
          <a:p>
            <a:pPr>
              <a:lnSpc>
                <a:spcPct val="150000"/>
              </a:lnSpc>
            </a:pP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Pengaturan Servlet </a:t>
            </a:r>
          </a:p>
        </p:txBody>
      </p:sp>
    </p:spTree>
    <p:extLst>
      <p:ext uri="{BB962C8B-B14F-4D97-AF65-F5344CB8AC3E}">
        <p14:creationId xmlns:p14="http://schemas.microsoft.com/office/powerpoint/2010/main" val="4034098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EB472A5-378F-4ADE-A2CE-83E7B54B240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573197" cy="7242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>
                <a:latin typeface="Arial (Headings)"/>
              </a:rPr>
              <a:t>Servlet </a:t>
            </a:r>
            <a:endParaRPr lang="en-US" sz="4000" b="1" dirty="0">
              <a:latin typeface="Arial (Headings)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1D7297-E7A8-405F-87D3-0DF766F1330A}"/>
              </a:ext>
            </a:extLst>
          </p:cNvPr>
          <p:cNvSpPr txBox="1"/>
          <p:nvPr/>
        </p:nvSpPr>
        <p:spPr>
          <a:xfrm>
            <a:off x="437882" y="954496"/>
            <a:ext cx="11269014" cy="3690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Java Servlet adalah objek java yang memproses interaksi HTTP di sisi server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Java Servlet mendukung terciptanya berbagai konten web dinamis, dapat melakukan hampir semua yang dapat dilakukan dengan HTTP dan Bahasa markup, dari katalog online, aplikasi chatting, situns perdagangan, dan lain-lain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Java Servlet banyak digunakan secara luas sebagai komponen java web, walaupun saat ini biasa digunakan secara tidak langsung 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1810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863B5B-3ADE-44A1-A593-258A60A8E84D}"/>
              </a:ext>
            </a:extLst>
          </p:cNvPr>
          <p:cNvSpPr txBox="1"/>
          <p:nvPr/>
        </p:nvSpPr>
        <p:spPr>
          <a:xfrm>
            <a:off x="386366" y="169296"/>
            <a:ext cx="61561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>
                <a:solidFill>
                  <a:srgbClr val="000000"/>
                </a:solidFill>
                <a:latin typeface="Arial" panose="020B0604020202020204" pitchFamily="34" charset="0"/>
              </a:rPr>
              <a:t>Contoh Aplikasi JSP-Servlet </a:t>
            </a:r>
          </a:p>
          <a:p>
            <a:r>
              <a:rPr lang="en-US" sz="1800">
                <a:solidFill>
                  <a:srgbClr val="000000"/>
                </a:solidFill>
                <a:latin typeface="Arial" panose="020B0604020202020204" pitchFamily="34" charset="0"/>
              </a:rPr>
              <a:t>• </a:t>
            </a:r>
            <a:r>
              <a:rPr 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Buat projek baru dengan nama HitungHargaServlet</a:t>
            </a:r>
          </a:p>
          <a:p>
            <a:r>
              <a:rPr lang="en-US" sz="1800">
                <a:solidFill>
                  <a:srgbClr val="000000"/>
                </a:solidFill>
                <a:latin typeface="Arial" panose="020B0604020202020204" pitchFamily="34" charset="0"/>
              </a:rPr>
              <a:t>• </a:t>
            </a:r>
            <a:r>
              <a:rPr 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Tambahkan file JSP dengan nama index</a:t>
            </a:r>
          </a:p>
          <a:p>
            <a:r>
              <a:rPr lang="it-IT" sz="1800">
                <a:solidFill>
                  <a:srgbClr val="000000"/>
                </a:solidFill>
                <a:latin typeface="Arial" panose="020B0604020202020204" pitchFamily="34" charset="0"/>
              </a:rPr>
              <a:t>• </a:t>
            </a:r>
            <a:r>
              <a:rPr lang="it-IT" sz="1800">
                <a:solidFill>
                  <a:srgbClr val="000000"/>
                </a:solidFill>
                <a:latin typeface="Times New Roman" panose="02020603050405020304" pitchFamily="18" charset="0"/>
              </a:rPr>
              <a:t>Ubah source code menjadi seperti di bawah ini 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01EA51-D73B-4C41-9A33-FD12F8B86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997" y="1590461"/>
            <a:ext cx="7138116" cy="4089121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DA0A6336-FFD8-427B-AE77-1A1BB20B19AD}"/>
              </a:ext>
            </a:extLst>
          </p:cNvPr>
          <p:cNvSpPr/>
          <p:nvPr/>
        </p:nvSpPr>
        <p:spPr>
          <a:xfrm>
            <a:off x="8229600" y="1564703"/>
            <a:ext cx="579549" cy="57954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183979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3B4CCE-D66F-4962-99DF-97EB6E14E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121" y="962882"/>
            <a:ext cx="8567685" cy="3892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671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F62203-53B2-445D-AC65-C698233F7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145" y="346260"/>
            <a:ext cx="5719855" cy="30602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6A3841F-B57F-4934-A364-7C7ACFD029B6}"/>
              </a:ext>
            </a:extLst>
          </p:cNvPr>
          <p:cNvSpPr txBox="1"/>
          <p:nvPr/>
        </p:nvSpPr>
        <p:spPr>
          <a:xfrm>
            <a:off x="502277" y="3891393"/>
            <a:ext cx="61561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latin typeface="Arial" panose="020B0604020202020204" pitchFamily="34" charset="0"/>
              </a:rPr>
              <a:t>• </a:t>
            </a:r>
            <a:r>
              <a:rPr 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Ubah nama file menjadi HitungHarga </a:t>
            </a:r>
          </a:p>
          <a:p>
            <a:r>
              <a:rPr lang="en-US" sz="1800">
                <a:solidFill>
                  <a:srgbClr val="000000"/>
                </a:solidFill>
                <a:latin typeface="Arial" panose="020B0604020202020204" pitchFamily="34" charset="0"/>
              </a:rPr>
              <a:t>• </a:t>
            </a:r>
            <a:r>
              <a:rPr 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Ubah nama package menjadi “proses”</a:t>
            </a:r>
          </a:p>
          <a:p>
            <a:r>
              <a:rPr lang="en-US" sz="1800">
                <a:solidFill>
                  <a:srgbClr val="000000"/>
                </a:solidFill>
                <a:latin typeface="Arial" panose="020B0604020202020204" pitchFamily="34" charset="0"/>
              </a:rPr>
              <a:t>• </a:t>
            </a:r>
            <a:r>
              <a:rPr 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Akhiri dengan mengklik tombol Finish </a:t>
            </a: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B4AF66-14BF-48BC-AE49-2E490F6704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3699" y="3499315"/>
            <a:ext cx="5549503" cy="2630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780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89003E-F791-43C8-B01A-219050881171}"/>
              </a:ext>
            </a:extLst>
          </p:cNvPr>
          <p:cNvSpPr txBox="1"/>
          <p:nvPr/>
        </p:nvSpPr>
        <p:spPr>
          <a:xfrm>
            <a:off x="206061" y="275289"/>
            <a:ext cx="11436439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tanda plus (+) di sebelah kiri HttpServlet Methods di bagian bawah source code servlet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Maka akan tampil dua metode, yaitu doGet dan doPost. 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sv-SE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doGet diproses ketika metode di tag form diisi get 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doPost diproses ketika metode di tag form diisi post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Secara default keduanya memanggil metode processRequest, pada contoh </a:t>
            </a:r>
            <a:r>
              <a:rPr lang="fi-FI"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saat ini tidak perlu ada perubahan 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16B347-ABBF-495D-AC90-2D241A4BA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188" y="2371023"/>
            <a:ext cx="8902602" cy="475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8CE0A9-97A0-45A7-A133-C2003A7BF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187" y="2992386"/>
            <a:ext cx="9018512" cy="13445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048FC5-CF98-430A-97F8-02FA77767F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872" y="4378176"/>
            <a:ext cx="9208782" cy="134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724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E9F00A-8323-4A36-B83C-B4FD82089512}"/>
              </a:ext>
            </a:extLst>
          </p:cNvPr>
          <p:cNvSpPr txBox="1"/>
          <p:nvPr/>
        </p:nvSpPr>
        <p:spPr>
          <a:xfrm>
            <a:off x="425002" y="249531"/>
            <a:ext cx="1130765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Cari metode processRequest</a:t>
            </a:r>
          </a:p>
          <a:p>
            <a:r>
              <a:rPr lang="en-US"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Di bawah pernyataan respone.setContentType tambahkan beberapa baris kosong</a:t>
            </a:r>
          </a:p>
          <a:p>
            <a:r>
              <a:rPr lang="en-US"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Untuk versi lama pembuatan objek PrintWriter (PrintWriter out = response.getWriter()) ditulis di atas try, tidak perlu diubah/disamakan</a:t>
            </a:r>
          </a:p>
          <a:p>
            <a:r>
              <a:rPr lang="en-US"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EBC602-5196-46B7-9A11-94B7203FA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001" y="1948583"/>
            <a:ext cx="6800047" cy="1724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198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AD0498-70A7-45A6-A3B7-BC808001A858}"/>
              </a:ext>
            </a:extLst>
          </p:cNvPr>
          <p:cNvSpPr txBox="1"/>
          <p:nvPr/>
        </p:nvSpPr>
        <p:spPr>
          <a:xfrm>
            <a:off x="244698" y="282038"/>
            <a:ext cx="111144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Tambahkan source code untuk membaca parameter dan untuk menghitung total harga 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007B3A-15D9-4AB1-898E-5C95AA7EE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13" y="706169"/>
            <a:ext cx="5668744" cy="4750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2545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8D4210-C4BB-475D-96AD-15F52F0056A4}"/>
              </a:ext>
            </a:extLst>
          </p:cNvPr>
          <p:cNvSpPr txBox="1"/>
          <p:nvPr/>
        </p:nvSpPr>
        <p:spPr>
          <a:xfrm>
            <a:off x="180303" y="208139"/>
            <a:ext cx="85644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Ubah source code di dalam try menjadi seperti di bawah ini 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BAE835-C324-4895-B755-90FDD2F830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259" y="577471"/>
            <a:ext cx="5828881" cy="30270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E8DAD3-CB90-4926-A127-63BCF718B9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5258" y="3545012"/>
            <a:ext cx="5627573" cy="3027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5659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F5CB40-8715-4725-AC0A-386A73B5717F}"/>
              </a:ext>
            </a:extLst>
          </p:cNvPr>
          <p:cNvSpPr txBox="1"/>
          <p:nvPr/>
        </p:nvSpPr>
        <p:spPr>
          <a:xfrm>
            <a:off x="167425" y="291748"/>
            <a:ext cx="6156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Running aplikasi (project) 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3F4846-E31A-40AF-8EBA-10F410966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50" y="792741"/>
            <a:ext cx="4792632" cy="35467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7A602A8-2D9E-4BAA-A699-DB2F980DE8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6366" y="792741"/>
            <a:ext cx="4792632" cy="3546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5998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5A5259-C778-4B0C-8F56-296DD58E364C}"/>
              </a:ext>
            </a:extLst>
          </p:cNvPr>
          <p:cNvSpPr txBox="1"/>
          <p:nvPr/>
        </p:nvSpPr>
        <p:spPr>
          <a:xfrm>
            <a:off x="360608" y="1676124"/>
            <a:ext cx="1105007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Contoh Aplikasi Servlet</a:t>
            </a:r>
          </a:p>
          <a:p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Buat peojek baru dengan nama HitungNilaiServlet</a:t>
            </a:r>
          </a:p>
          <a:p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Tambahkan file Servlet, caranya klik kanan pada Web Pages, </a:t>
            </a:r>
          </a:p>
          <a:p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pilih New </a:t>
            </a: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Servlet … 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61736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A8C528-2510-4048-B01E-ACEF792DD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391" y="1438752"/>
            <a:ext cx="6637318" cy="238627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40B0E3B-359B-4591-A882-C7AE7679A711}"/>
              </a:ext>
            </a:extLst>
          </p:cNvPr>
          <p:cNvSpPr txBox="1"/>
          <p:nvPr/>
        </p:nvSpPr>
        <p:spPr>
          <a:xfrm>
            <a:off x="384090" y="214475"/>
            <a:ext cx="61561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Tambahkan file Servlet, caranya klik kanan pada Web Pages, </a:t>
            </a:r>
          </a:p>
          <a:p>
            <a:r>
              <a:rPr lang="en-US"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pilih New </a:t>
            </a:r>
            <a:r>
              <a:rPr lang="en-US"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Servlet … </a:t>
            </a:r>
            <a:endParaRPr 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40241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635ECB-24C7-4A76-A7D7-F78BF863D4C9}"/>
              </a:ext>
            </a:extLst>
          </p:cNvPr>
          <p:cNvSpPr txBox="1"/>
          <p:nvPr/>
        </p:nvSpPr>
        <p:spPr>
          <a:xfrm>
            <a:off x="296214" y="278870"/>
            <a:ext cx="61561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Ubah nama file menjadi HitungNilai</a:t>
            </a:r>
          </a:p>
          <a:p>
            <a:r>
              <a:rPr lang="en-US"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Mengubah Source Code 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DF06D2-1394-4152-878F-CDB7D263BA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14" y="1407670"/>
            <a:ext cx="7611414" cy="1930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8878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78E5E6-0873-4B95-8586-0B54595FEFE9}"/>
              </a:ext>
            </a:extLst>
          </p:cNvPr>
          <p:cNvSpPr txBox="1"/>
          <p:nvPr/>
        </p:nvSpPr>
        <p:spPr>
          <a:xfrm>
            <a:off x="515154" y="446294"/>
            <a:ext cx="94788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>
                <a:solidFill>
                  <a:srgbClr val="000000"/>
                </a:solidFill>
                <a:latin typeface="Arial" panose="020B0604020202020204" pitchFamily="34" charset="0"/>
              </a:rPr>
              <a:t>• </a:t>
            </a:r>
            <a:r>
              <a:rPr lang="en-GB" sz="1800">
                <a:solidFill>
                  <a:srgbClr val="000000"/>
                </a:solidFill>
                <a:latin typeface="Times New Roman" panose="02020603050405020304" pitchFamily="18" charset="0"/>
              </a:rPr>
              <a:t>Di bawah setContentType tambahkan source code untuk membaca </a:t>
            </a:r>
          </a:p>
          <a:p>
            <a:r>
              <a:rPr 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parameter, dan menghitung nilai 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67BE2D-1F6E-45BF-9A77-2F8CA3DA4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029" y="1141978"/>
            <a:ext cx="5644971" cy="3559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9863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661F6B-393B-460E-BE1C-3F55350F8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299" y="615355"/>
            <a:ext cx="5670988" cy="513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4967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E7B2D8-4261-46CF-ABDC-527D2D5AA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101" y="517413"/>
            <a:ext cx="6299737" cy="4958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3233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7FFEF1-4FD8-40AF-87C4-04F3959F198C}"/>
              </a:ext>
            </a:extLst>
          </p:cNvPr>
          <p:cNvSpPr txBox="1"/>
          <p:nvPr/>
        </p:nvSpPr>
        <p:spPr>
          <a:xfrm>
            <a:off x="463639" y="298291"/>
            <a:ext cx="6156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>
                <a:solidFill>
                  <a:srgbClr val="000000"/>
                </a:solidFill>
                <a:latin typeface="Arial" panose="020B0604020202020204" pitchFamily="34" charset="0"/>
              </a:rPr>
              <a:t>• </a:t>
            </a:r>
            <a:r>
              <a:rPr lang="it-IT" sz="1800">
                <a:solidFill>
                  <a:srgbClr val="000000"/>
                </a:solidFill>
                <a:latin typeface="Times New Roman" panose="02020603050405020304" pitchFamily="18" charset="0"/>
              </a:rPr>
              <a:t>Ubah source code di dalam try menjadi seperti di bawah ini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0993E0-74B7-47BB-830B-CC8E23E2E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19" y="849515"/>
            <a:ext cx="8486396" cy="4592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4636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30DEFC-AC93-49BC-B56D-9C0FEE856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287" y="531499"/>
            <a:ext cx="8207089" cy="5045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7184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EB6233-1080-4230-9DD5-25DDA3A56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221" y="492532"/>
            <a:ext cx="10096771" cy="3435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2813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A42205-D35D-4090-80CD-2B41F8DE74E0}"/>
              </a:ext>
            </a:extLst>
          </p:cNvPr>
          <p:cNvSpPr txBox="1"/>
          <p:nvPr/>
        </p:nvSpPr>
        <p:spPr>
          <a:xfrm>
            <a:off x="206062" y="169503"/>
            <a:ext cx="6156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latin typeface="Arial" panose="020B0604020202020204" pitchFamily="34" charset="0"/>
              </a:rPr>
              <a:t>• </a:t>
            </a:r>
            <a:r>
              <a:rPr 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Ketika dieksekusi akan ditampilkan file index.html 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92A953-7AAC-49CE-AC91-E4E1ED4F5C41}"/>
              </a:ext>
            </a:extLst>
          </p:cNvPr>
          <p:cNvSpPr txBox="1"/>
          <p:nvPr/>
        </p:nvSpPr>
        <p:spPr>
          <a:xfrm>
            <a:off x="334851" y="681283"/>
            <a:ext cx="100970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latin typeface="Arial" panose="020B0604020202020204" pitchFamily="34" charset="0"/>
              </a:rPr>
              <a:t>• </a:t>
            </a:r>
            <a:r>
              <a:rPr 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Untuk mengeksekusi servlet HitungNilai, tambahkan HitungNilai di</a:t>
            </a:r>
          </a:p>
          <a:p>
            <a:r>
              <a:rPr lang="pt-BR" sz="1800">
                <a:solidFill>
                  <a:srgbClr val="000000"/>
                </a:solidFill>
                <a:latin typeface="Times New Roman" panose="02020603050405020304" pitchFamily="18" charset="0"/>
              </a:rPr>
              <a:t>belakang alamat pada address bar seperti pada gambar</a:t>
            </a:r>
          </a:p>
          <a:p>
            <a:r>
              <a:rPr 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C67D74-2286-4532-AE58-BBB1D8B1C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391" y="1511497"/>
            <a:ext cx="7542523" cy="15923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938639-6B21-4483-A733-56A76B219D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2493" y="2881357"/>
            <a:ext cx="8359397" cy="2105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7585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075215D-2AE0-48FA-B140-F2B44DB25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41" y="131815"/>
            <a:ext cx="4530483" cy="32971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D9D1EE4-B111-4D3C-AF88-CE957A2F5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1790" y="2034123"/>
            <a:ext cx="4687974" cy="3411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0291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7D5B0-CAF7-45A2-B0D1-E8315A4FC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sz="11500">
                <a:latin typeface="Aharoni" panose="02010803020104030203" pitchFamily="2" charset="-79"/>
                <a:cs typeface="Aharoni" panose="02010803020104030203" pitchFamily="2" charset="-79"/>
              </a:rPr>
              <a:t>SELESAI</a:t>
            </a:r>
          </a:p>
        </p:txBody>
      </p:sp>
    </p:spTree>
    <p:extLst>
      <p:ext uri="{BB962C8B-B14F-4D97-AF65-F5344CB8AC3E}">
        <p14:creationId xmlns:p14="http://schemas.microsoft.com/office/powerpoint/2010/main" val="5166663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8398991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3887</TotalTime>
  <Words>391</Words>
  <Application>Microsoft Office PowerPoint</Application>
  <PresentationFormat>Widescreen</PresentationFormat>
  <Paragraphs>49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8</vt:i4>
      </vt:variant>
      <vt:variant>
        <vt:lpstr>Slide Titles</vt:lpstr>
      </vt:variant>
      <vt:variant>
        <vt:i4>25</vt:i4>
      </vt:variant>
    </vt:vector>
  </HeadingPairs>
  <TitlesOfParts>
    <vt:vector size="42" baseType="lpstr">
      <vt:lpstr>Arial (Headings)</vt:lpstr>
      <vt:lpstr>Aharoni</vt:lpstr>
      <vt:lpstr>Antipasto Pro Bold</vt:lpstr>
      <vt:lpstr>Arial</vt:lpstr>
      <vt:lpstr>Calibri</vt:lpstr>
      <vt:lpstr>Calibri Light</vt:lpstr>
      <vt:lpstr>Fira Sans ExtraBold</vt:lpstr>
      <vt:lpstr>Times New Roman</vt:lpstr>
      <vt:lpstr>Wingdings</vt:lpstr>
      <vt:lpstr>6_Office Theme</vt:lpstr>
      <vt:lpstr>7_Office Theme</vt:lpstr>
      <vt:lpstr>4_Office Theme</vt:lpstr>
      <vt:lpstr>3_Office Theme</vt:lpstr>
      <vt:lpstr>2_Office Theme</vt:lpstr>
      <vt:lpstr>Office Theme</vt:lpstr>
      <vt:lpstr>5_Office Theme</vt:lpstr>
      <vt:lpstr>1_Office Theme</vt:lpstr>
      <vt:lpstr>PowerPoint Presentation</vt:lpstr>
      <vt:lpstr>Pertemuan 11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SELESAI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lisda masitoh</dc:creator>
  <cp:lastModifiedBy>hendri ardiansyah</cp:lastModifiedBy>
  <cp:revision>104</cp:revision>
  <dcterms:created xsi:type="dcterms:W3CDTF">2021-08-16T10:58:02Z</dcterms:created>
  <dcterms:modified xsi:type="dcterms:W3CDTF">2021-08-28T13:51:32Z</dcterms:modified>
</cp:coreProperties>
</file>